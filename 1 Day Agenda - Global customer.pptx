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7" r:id="rId7"/>
    <p:sldId id="259" r:id="rId8"/>
    <p:sldId id="261" r:id="rId9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F9CA-7F4D-4381-AD13-95E0E2A0A229}" v="79" dt="2025-10-29T08:29:43.580"/>
    <p1510:client id="{D6A0962B-29C2-483A-A5E5-018F471F592A}" v="262" dt="2025-10-29T09:36:26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uley" userId="fc9611ef-b07b-4d86-9aa1-495c9ef29130" providerId="ADAL" clId="{8D098A0D-06BB-497A-BA80-F4A9947C811C}"/>
    <pc:docChg chg="undo redo custSel modSld">
      <pc:chgData name="Avinash Muley" userId="fc9611ef-b07b-4d86-9aa1-495c9ef29130" providerId="ADAL" clId="{8D098A0D-06BB-497A-BA80-F4A9947C811C}" dt="2025-10-29T09:36:26.800" v="4818" actId="1035"/>
      <pc:docMkLst>
        <pc:docMk/>
      </pc:docMkLst>
      <pc:sldChg chg="modSp mod">
        <pc:chgData name="Avinash Muley" userId="fc9611ef-b07b-4d86-9aa1-495c9ef29130" providerId="ADAL" clId="{8D098A0D-06BB-497A-BA80-F4A9947C811C}" dt="2025-10-23T07:40:48.860" v="1818" actId="20577"/>
        <pc:sldMkLst>
          <pc:docMk/>
          <pc:sldMk cId="0" sldId="256"/>
        </pc:sldMkLst>
        <pc:spChg chg="mod">
          <ac:chgData name="Avinash Muley" userId="fc9611ef-b07b-4d86-9aa1-495c9ef29130" providerId="ADAL" clId="{8D098A0D-06BB-497A-BA80-F4A9947C811C}" dt="2025-10-23T07:40:48.860" v="1818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Avinash Muley" userId="fc9611ef-b07b-4d86-9aa1-495c9ef29130" providerId="ADAL" clId="{8D098A0D-06BB-497A-BA80-F4A9947C811C}" dt="2025-10-29T09:36:26.800" v="4818" actId="1035"/>
        <pc:sldMkLst>
          <pc:docMk/>
          <pc:sldMk cId="0" sldId="257"/>
        </pc:sldMkLst>
        <pc:spChg chg="mod">
          <ac:chgData name="Avinash Muley" userId="fc9611ef-b07b-4d86-9aa1-495c9ef29130" providerId="ADAL" clId="{8D098A0D-06BB-497A-BA80-F4A9947C811C}" dt="2025-10-29T08:11:04.126" v="479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vinash Muley" userId="fc9611ef-b07b-4d86-9aa1-495c9ef29130" providerId="ADAL" clId="{8D098A0D-06BB-497A-BA80-F4A9947C811C}" dt="2025-10-29T09:36:26.800" v="4818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Avinash Muley" userId="fc9611ef-b07b-4d86-9aa1-495c9ef29130" providerId="ADAL" clId="{8D098A0D-06BB-497A-BA80-F4A9947C811C}" dt="2025-10-29T09:36:26.800" v="4818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vinash Muley" userId="fc9611ef-b07b-4d86-9aa1-495c9ef29130" providerId="ADAL" clId="{8D098A0D-06BB-497A-BA80-F4A9947C811C}" dt="2025-10-29T09:36:26.800" v="4818" actId="1035"/>
          <ac:spMkLst>
            <pc:docMk/>
            <pc:sldMk cId="0" sldId="257"/>
            <ac:spMk id="11" creationId="{00000000-0000-0000-0000-000000000000}"/>
          </ac:spMkLst>
        </pc:spChg>
      </pc:sldChg>
      <pc:sldChg chg="addSp delSp modSp mod">
        <pc:chgData name="Avinash Muley" userId="fc9611ef-b07b-4d86-9aa1-495c9ef29130" providerId="ADAL" clId="{8D098A0D-06BB-497A-BA80-F4A9947C811C}" dt="2025-10-29T08:08:02.088" v="4657" actId="20577"/>
        <pc:sldMkLst>
          <pc:docMk/>
          <pc:sldMk cId="0" sldId="259"/>
        </pc:sldMkLst>
        <pc:graphicFrameChg chg="mod modGraphic">
          <ac:chgData name="Avinash Muley" userId="fc9611ef-b07b-4d86-9aa1-495c9ef29130" providerId="ADAL" clId="{8D098A0D-06BB-497A-BA80-F4A9947C811C}" dt="2025-10-29T08:08:02.088" v="4657" actId="20577"/>
          <ac:graphicFrameMkLst>
            <pc:docMk/>
            <pc:sldMk cId="0" sldId="259"/>
            <ac:graphicFrameMk id="2" creationId="{832A88D3-9C11-72A0-BAAA-437A2F7158B8}"/>
          </ac:graphicFrameMkLst>
        </pc:graphicFrameChg>
      </pc:sldChg>
    </pc:docChg>
  </pc:docChgLst>
  <pc:docChgLst>
    <pc:chgData name="Pushparaj M" userId="d81c3ba7-97b7-4fff-bd61-62b33329e6a0" providerId="ADAL" clId="{2E513734-9E64-4AA8-AC3C-D821D5098CDD}"/>
    <pc:docChg chg="undo custSel modSld">
      <pc:chgData name="Pushparaj M" userId="d81c3ba7-97b7-4fff-bd61-62b33329e6a0" providerId="ADAL" clId="{2E513734-9E64-4AA8-AC3C-D821D5098CDD}" dt="2025-10-29T08:29:43.580" v="78" actId="20577"/>
      <pc:docMkLst>
        <pc:docMk/>
      </pc:docMkLst>
      <pc:sldChg chg="modSp mod">
        <pc:chgData name="Pushparaj M" userId="d81c3ba7-97b7-4fff-bd61-62b33329e6a0" providerId="ADAL" clId="{2E513734-9E64-4AA8-AC3C-D821D5098CDD}" dt="2025-10-29T08:26:29.657" v="52" actId="113"/>
        <pc:sldMkLst>
          <pc:docMk/>
          <pc:sldMk cId="0" sldId="257"/>
        </pc:sldMkLst>
        <pc:spChg chg="mod">
          <ac:chgData name="Pushparaj M" userId="d81c3ba7-97b7-4fff-bd61-62b33329e6a0" providerId="ADAL" clId="{2E513734-9E64-4AA8-AC3C-D821D5098CDD}" dt="2025-10-29T08:26:29.657" v="52" actId="113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Pushparaj M" userId="d81c3ba7-97b7-4fff-bd61-62b33329e6a0" providerId="ADAL" clId="{2E513734-9E64-4AA8-AC3C-D821D5098CDD}" dt="2025-10-29T08:29:43.580" v="78" actId="20577"/>
        <pc:sldMkLst>
          <pc:docMk/>
          <pc:sldMk cId="0" sldId="259"/>
        </pc:sldMkLst>
        <pc:graphicFrameChg chg="modGraphic">
          <ac:chgData name="Pushparaj M" userId="d81c3ba7-97b7-4fff-bd61-62b33329e6a0" providerId="ADAL" clId="{2E513734-9E64-4AA8-AC3C-D821D5098CDD}" dt="2025-10-29T08:29:43.580" v="78" actId="20577"/>
          <ac:graphicFrameMkLst>
            <pc:docMk/>
            <pc:sldMk cId="0" sldId="259"/>
            <ac:graphicFrameMk id="2" creationId="{832A88D3-9C11-72A0-BAAA-437A2F7158B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10/29/2025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89854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3978" y="281116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3225" y="857838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277839" y="1046249"/>
            <a:ext cx="6332529" cy="3003964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>
                <a:solidFill>
                  <a:schemeClr val="accent5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Prudential Leadership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/>
              <a:t>Mr. George Sinnott - </a:t>
            </a:r>
            <a:r>
              <a:rPr lang="en-US" sz="1600"/>
              <a:t>Vice Presidency, Delivery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/>
              <a:t>Mr. John </a:t>
            </a:r>
            <a:r>
              <a:rPr lang="en-US" sz="1600" b="1" err="1"/>
              <a:t>Glooch</a:t>
            </a:r>
            <a:r>
              <a:rPr lang="en-US" sz="1600" b="1"/>
              <a:t> - </a:t>
            </a:r>
            <a:r>
              <a:rPr lang="en-US" sz="1600"/>
              <a:t>Vice President, Business Technology Officer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/>
              <a:t>Mr. Gagan Puranik - </a:t>
            </a:r>
            <a:r>
              <a:rPr lang="en-IN" sz="1600"/>
              <a:t>Vice President, Strategic Sourcing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/>
              <a:t>Ms. Rachel Morgan - </a:t>
            </a:r>
            <a:r>
              <a:rPr lang="en-US" sz="1600"/>
              <a:t>Director, Strategic Sourcing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/>
              <a:t>Mr. Gennadiy Belenkiy - </a:t>
            </a:r>
            <a:r>
              <a:rPr lang="en-US" sz="1600"/>
              <a:t>Vice President, Business Technology Officer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kern="0">
                <a:solidFill>
                  <a:srgbClr val="000000"/>
                </a:solidFill>
              </a:rPr>
              <a:t>Mr. Genta Hatakeyama </a:t>
            </a:r>
            <a:r>
              <a:rPr lang="en-IN" sz="1600" kern="0">
                <a:solidFill>
                  <a:srgbClr val="000000"/>
                </a:solidFill>
              </a:rPr>
              <a:t>–</a:t>
            </a:r>
            <a:r>
              <a:rPr lang="en-IN"/>
              <a:t> </a:t>
            </a:r>
            <a:r>
              <a:rPr lang="en-IN" sz="1600" kern="0">
                <a:solidFill>
                  <a:srgbClr val="000000"/>
                </a:solidFill>
              </a:rPr>
              <a:t>PHJ Digital Application Lead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600" kern="0">
              <a:solidFill>
                <a:srgbClr val="000000"/>
              </a:solidFill>
            </a:endParaRP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>
                <a:solidFill>
                  <a:schemeClr val="accent5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Deloitte Attendees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/>
              <a:t>Ms. Heather Rangel</a:t>
            </a:r>
          </a:p>
          <a:p>
            <a:pPr lvl="0"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/>
              <a:t>Ms. Tomiko Partington</a:t>
            </a:r>
            <a:endParaRPr lang="en-US" sz="1600" b="1">
              <a:solidFill>
                <a:schemeClr val="accent5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195068" y="4003672"/>
            <a:ext cx="2052727" cy="96752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Team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chemeClr val="accent5">
                    <a:lumMod val="75000"/>
                  </a:schemeClr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Pune</a:t>
            </a:r>
            <a:endParaRPr lang="en-US" sz="3600" b="0" i="0" u="none" strike="noStrike" kern="1200" cap="none" spc="0" baseline="0">
              <a:solidFill>
                <a:schemeClr val="accent5">
                  <a:lumMod val="75000"/>
                </a:schemeClr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</p:txBody>
      </p:sp>
      <p:sp>
        <p:nvSpPr>
          <p:cNvPr id="10" name="Rectangle 16"/>
          <p:cNvSpPr/>
          <p:nvPr/>
        </p:nvSpPr>
        <p:spPr>
          <a:xfrm>
            <a:off x="195068" y="4971195"/>
            <a:ext cx="6371976" cy="359867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Sethumadhavan Lakshmanan –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Managing Partner &amp; VP, BFSI Americas 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</a:t>
            </a:r>
            <a:r>
              <a:rPr lang="en-US" sz="16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. </a:t>
            </a: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Milind Karve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</a:t>
            </a: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JDC Service Delivery Head &amp; VP,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Laxmikant Shaligram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Service Delivery Deputy Head,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Nitin Shukla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Unit Owner, </a:t>
            </a:r>
            <a:r>
              <a:rPr lang="en-US" sz="1600">
                <a:solidFill>
                  <a:srgbClr val="000000"/>
                </a:solidFill>
                <a:ea typeface="Microsoft YaHei"/>
                <a:cs typeface="Mangal"/>
              </a:rPr>
              <a:t>BFSI Americas </a:t>
            </a:r>
            <a:endParaRPr lang="en-US" sz="1600">
              <a:solidFill>
                <a:srgbClr val="000000"/>
              </a:solidFill>
              <a:latin typeface="Calibri"/>
              <a:ea typeface="Microsoft YaHei"/>
              <a:cs typeface="Mangal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Pushparaj M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Delivery Head, BFSI (US), BFSI BG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Sagar Borgaonkar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Head of SBP &amp; Strategic Initiatives,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Sayyad </a:t>
            </a:r>
            <a:r>
              <a:rPr lang="en-US" altLang="ja-JP" sz="1600" b="1" kern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Abbashaider</a:t>
            </a: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 – </a:t>
            </a:r>
            <a:r>
              <a:rPr lang="en-US" altLang="ja-JP" sz="1600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Head of Sales &amp; Solutions, IT IS,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Muddasir Kazi -  </a:t>
            </a:r>
            <a:r>
              <a:rPr lang="en-US" altLang="ja-JP" sz="1600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Lead Solutions Architect, IT IS,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Ms. Shilpa </a:t>
            </a:r>
            <a:r>
              <a:rPr lang="en-US" altLang="ja-JP" sz="1600" b="1" kern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Vairagkar</a:t>
            </a: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 </a:t>
            </a:r>
            <a:r>
              <a:rPr lang="en-US" altLang="ja-JP" sz="1600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Presales Consultant,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Ms. Renuka </a:t>
            </a:r>
            <a:r>
              <a:rPr lang="en-US" altLang="ja-JP" sz="1600" b="1" kern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Saldhana</a:t>
            </a: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 </a:t>
            </a:r>
            <a:r>
              <a:rPr lang="en-US" altLang="ja-JP" sz="1600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Talent Development,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Mr. </a:t>
            </a:r>
            <a:r>
              <a:rPr lang="en-US" altLang="ja-JP" sz="1600" b="1" kern="0" err="1">
                <a:solidFill>
                  <a:srgbClr val="000000"/>
                </a:solidFill>
                <a:ea typeface="Microsoft YaHei" pitchFamily="2"/>
                <a:cs typeface="Mangal" pitchFamily="2"/>
              </a:rPr>
              <a:t>Sreedeep</a:t>
            </a:r>
            <a:r>
              <a:rPr lang="en-US" altLang="ja-JP" sz="1600" b="1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 P </a:t>
            </a:r>
            <a:r>
              <a:rPr lang="en-US" altLang="ja-JP" sz="1600" kern="0">
                <a:solidFill>
                  <a:srgbClr val="000000"/>
                </a:solidFill>
                <a:ea typeface="Microsoft YaHei" pitchFamily="2"/>
                <a:cs typeface="Mangal" pitchFamily="2"/>
              </a:rPr>
              <a:t>– Team Lead, BFSI (US), BFSI BG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kern="0">
                <a:solidFill>
                  <a:srgbClr val="000000"/>
                </a:solidFill>
                <a:ea typeface="Microsoft YaHei"/>
                <a:cs typeface="Mangal"/>
              </a:rPr>
              <a:t>Ms. Nivedita Kulkarni </a:t>
            </a:r>
            <a:r>
              <a:rPr lang="en-US" sz="1600" kern="0">
                <a:solidFill>
                  <a:srgbClr val="000000"/>
                </a:solidFill>
                <a:ea typeface="Microsoft YaHei"/>
                <a:cs typeface="Mangal"/>
              </a:rPr>
              <a:t>–</a:t>
            </a:r>
            <a:r>
              <a:rPr lang="en-US" sz="1600" kern="0">
                <a:solidFill>
                  <a:srgbClr val="000000"/>
                </a:solidFill>
                <a:latin typeface="Calibri" pitchFamily="18"/>
                <a:ea typeface="Microsoft YaHei" pitchFamily="2"/>
                <a:cs typeface="Mangal" pitchFamily="2"/>
              </a:rPr>
              <a:t> JDC Customer Experience &amp; Presales</a:t>
            </a:r>
            <a:endParaRPr lang="en-US" altLang="ja-JP" sz="1600" kern="0">
              <a:solidFill>
                <a:srgbClr val="000000"/>
              </a:solidFill>
              <a:ea typeface="Microsoft YaHei" pitchFamily="2"/>
              <a:cs typeface="Mangal" pitchFamily="2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Mr. Avinash Muley </a:t>
            </a:r>
            <a:r>
              <a:rPr lang="en-US" sz="1600" b="0" i="0" u="none" strike="noStrike" kern="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– </a:t>
            </a:r>
            <a:r>
              <a:rPr lang="en-US" sz="16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JDC Customer Experience &amp; Presales</a:t>
            </a:r>
          </a:p>
        </p:txBody>
      </p:sp>
      <p:sp>
        <p:nvSpPr>
          <p:cNvPr id="11" name="Rectangle 21"/>
          <p:cNvSpPr/>
          <p:nvPr/>
        </p:nvSpPr>
        <p:spPr>
          <a:xfrm>
            <a:off x="206714" y="4596565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4EF940E-F9F8-5F0B-CC72-8EB47F779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39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50303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,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/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/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F0C80854-6293-4EC8-AB9F-EE83B91FA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2A88D3-9C11-72A0-BAAA-437A2F715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9645"/>
              </p:ext>
            </p:extLst>
          </p:nvPr>
        </p:nvGraphicFramePr>
        <p:xfrm>
          <a:off x="228421" y="859268"/>
          <a:ext cx="6565042" cy="7624487"/>
        </p:xfrm>
        <a:graphic>
          <a:graphicData uri="http://schemas.openxmlformats.org/drawingml/2006/table">
            <a:tbl>
              <a:tblPr/>
              <a:tblGrid>
                <a:gridCol w="410041">
                  <a:extLst>
                    <a:ext uri="{9D8B030D-6E8A-4147-A177-3AD203B41FA5}">
                      <a16:colId xmlns:a16="http://schemas.microsoft.com/office/drawing/2014/main" val="4188883740"/>
                    </a:ext>
                  </a:extLst>
                </a:gridCol>
                <a:gridCol w="369297">
                  <a:extLst>
                    <a:ext uri="{9D8B030D-6E8A-4147-A177-3AD203B41FA5}">
                      <a16:colId xmlns:a16="http://schemas.microsoft.com/office/drawing/2014/main" val="189489652"/>
                    </a:ext>
                  </a:extLst>
                </a:gridCol>
                <a:gridCol w="420827">
                  <a:extLst>
                    <a:ext uri="{9D8B030D-6E8A-4147-A177-3AD203B41FA5}">
                      <a16:colId xmlns:a16="http://schemas.microsoft.com/office/drawing/2014/main" val="3670263852"/>
                    </a:ext>
                  </a:extLst>
                </a:gridCol>
                <a:gridCol w="1712547">
                  <a:extLst>
                    <a:ext uri="{9D8B030D-6E8A-4147-A177-3AD203B41FA5}">
                      <a16:colId xmlns:a16="http://schemas.microsoft.com/office/drawing/2014/main" val="4093059146"/>
                    </a:ext>
                  </a:extLst>
                </a:gridCol>
                <a:gridCol w="1820334">
                  <a:extLst>
                    <a:ext uri="{9D8B030D-6E8A-4147-A177-3AD203B41FA5}">
                      <a16:colId xmlns:a16="http://schemas.microsoft.com/office/drawing/2014/main" val="207531918"/>
                    </a:ext>
                  </a:extLst>
                </a:gridCol>
                <a:gridCol w="836020">
                  <a:extLst>
                    <a:ext uri="{9D8B030D-6E8A-4147-A177-3AD203B41FA5}">
                      <a16:colId xmlns:a16="http://schemas.microsoft.com/office/drawing/2014/main" val="429271498"/>
                    </a:ext>
                  </a:extLst>
                </a:gridCol>
                <a:gridCol w="995976">
                  <a:extLst>
                    <a:ext uri="{9D8B030D-6E8A-4147-A177-3AD203B41FA5}">
                      <a16:colId xmlns:a16="http://schemas.microsoft.com/office/drawing/2014/main" val="2746386013"/>
                    </a:ext>
                  </a:extLst>
                </a:gridCol>
              </a:tblGrid>
              <a:tr h="239144">
                <a:tc gridSpan="7"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kern="1200" spc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6</a:t>
                      </a:r>
                      <a:r>
                        <a:rPr lang="en-US" sz="1200" b="1" i="0" u="none" strike="noStrike" kern="1200" spc="0" baseline="3000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th</a:t>
                      </a:r>
                      <a:r>
                        <a:rPr lang="en-US" sz="1200" b="1" i="0" u="none" strike="noStrike" kern="1200" spc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 Nov 2025 (Thursday) – A1 Boardroom  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19654"/>
                  </a:ext>
                </a:extLst>
              </a:tr>
              <a:tr h="239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Start Time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End Time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Dura</a:t>
                      </a:r>
                    </a:p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Tion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Agenda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Alignment with Customer Interest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Presenter (s)/ Stories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Location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353178"/>
                  </a:ext>
                </a:extLst>
              </a:tr>
              <a:tr h="239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11:20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Reception &amp; Security and Welcome Introductions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Avinash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Gate-2</a:t>
                      </a:r>
                    </a:p>
                  </a:txBody>
                  <a:tcPr marL="9435" marR="9435" marT="943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628871"/>
                  </a:ext>
                </a:extLst>
              </a:tr>
              <a:tr h="2391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11:20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11:35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TCS Prudential Relationship Overview and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Sethu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148993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11:35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JDC &amp; JDM Overview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Japan AI COE connect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/>
                        <a:t>Meet vendor leaders to assess strategic fit, executive commitment, and readiness to support Prudential’s Japan and US needs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900"/>
                        <a:t>Overview of Japanese clients &amp; services provided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Milind/Shali, (Misawa)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Hikari Academy, S2 GF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0631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Talent Review+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Hikari Academy Walkthrough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&amp; Language Initiatives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/>
                        <a:t>Talent/People (including language)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900"/>
                        <a:t>•Recruitment approach, talent sources, and available bench with focus on Japanese skills • Talent retention and quality (approach, best practices, specific initiatives) • Culture, language and talent development / training 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Sagar &amp; Renuka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Hikari Academy, S2 GF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001254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IT Infrastructure Services -Digitally Managed Services Overview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/>
                        <a:t>- Vendor capabilities overview – Services, Platforms</a:t>
                      </a:r>
                    </a:p>
                    <a:p>
                      <a:pPr marL="171450" indent="-171450" algn="ctr" fontAlgn="ctr">
                        <a:buFontTx/>
                        <a:buChar char="-"/>
                      </a:pPr>
                      <a:r>
                        <a:rPr lang="en-US" sz="900"/>
                        <a:t>Service capabilities with perspectives on Japan-specific dynamics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Abbas / Muddassir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Hikari Academy, S2 GF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766171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13:30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Infrastructure </a:t>
                      </a:r>
                      <a:r>
                        <a:rPr 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- </a:t>
                      </a: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PRISM™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Floor walkthrough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Infrastructure Portfolio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Unmesh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S3 1F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9499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A1 Poolside EDR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67518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14:30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+ Interaction with Japan Teams</a:t>
                      </a: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Takenaka (Data)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Digital Transformation, Working with Japanese clients.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Rahul Patil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S2 4F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871506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MISOL (ITO, Security, ISM) </a:t>
                      </a:r>
                      <a:r>
                        <a:rPr 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Floorwalk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/>
                        <a:t>Service capabilities with perspectives on Japan-specific dynamics , Tool and accelerators, </a:t>
                      </a:r>
                      <a:r>
                        <a:rPr lang="en-US" sz="900" err="1"/>
                        <a:t>Floorwalk</a:t>
                      </a:r>
                      <a:r>
                        <a:rPr lang="en-US" sz="900"/>
                        <a:t>, Security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Shishank</a:t>
                      </a: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S3 5F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214129"/>
                  </a:ext>
                </a:extLst>
              </a:tr>
              <a:tr h="46932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AMS /ADM session– 20 mins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Transition Approach – 20 mins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/>
                        <a:t>- Vendor capabilities overview – Services, Platforms</a:t>
                      </a:r>
                    </a:p>
                    <a:p>
                      <a:pPr marL="171450" indent="-171450" algn="ctr" fontAlgn="ctr">
                        <a:buFontTx/>
                        <a:buChar char="-"/>
                      </a:pPr>
                      <a:r>
                        <a:rPr lang="en-US" sz="900"/>
                        <a:t>Service capabilities with perspectives on Japan-specific dynamics</a:t>
                      </a:r>
                    </a:p>
                    <a:p>
                      <a:pPr marL="0" indent="0" algn="ctr" fontAlgn="ctr">
                        <a:buFontTx/>
                        <a:buNone/>
                      </a:pPr>
                      <a:r>
                        <a:rPr lang="en-US" sz="900">
                          <a:highlight>
                            <a:srgbClr val="FFFF00"/>
                          </a:highlight>
                        </a:rPr>
                        <a:t>- Transition approach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Prashant / Prathamesh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726823"/>
                  </a:ext>
                </a:extLst>
              </a:tr>
              <a:tr h="50117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Commercials Approach for Japanese Clients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/>
                        <a:t>Commercials Options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Pushparaj, Prasad, Sagar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841062"/>
                  </a:ext>
                </a:extLst>
              </a:tr>
              <a:tr h="37226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16:30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17:00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0:15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Wrap-up &amp; Feedback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/>
                        <a:t>Action Items and confirm next steps • Evidence / document needs for post-visit follow up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 Touchbase on commercials options.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All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A1 Boardroom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043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E4C40E-32B8-4360-94F3-278EB0866EB9}"/>
</file>

<file path=customXml/itemProps2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C77780-A02C-44E8-A942-CF113F8CCED5}">
  <ds:schemaRefs>
    <ds:schemaRef ds:uri="5775c0f8-94d4-415d-85db-b514c10c207c"/>
    <ds:schemaRef ds:uri="b1696eea-1f70-4b29-921b-d05a1e89eb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revision>1</cp:revision>
  <cp:lastPrinted>2023-05-24T09:27:22Z</cp:lastPrinted>
  <dcterms:modified xsi:type="dcterms:W3CDTF">2025-10-29T09:36:27Z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